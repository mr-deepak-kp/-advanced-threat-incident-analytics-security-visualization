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0" y="0"/>
            <a:ext cx="54864" cy="685800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09728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🛡️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274320" y="256032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A0C4FF"/>
                </a:solidFill>
              </a:rPr>
              <a:t>SECURITY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spc="300" kern="0" dirty="0">
                <a:solidFill>
                  <a:srgbClr val="A0C4FF"/>
                </a:solidFill>
              </a:rPr>
              <a:t>INTELLIGENCE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spc="300" kern="0" dirty="0">
                <a:solidFill>
                  <a:srgbClr val="A0C4FF"/>
                </a:solidFill>
              </a:rPr>
              <a:t>PLATFORM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74320" y="438912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7090"/>
                </a:solidFill>
              </a:rPr>
              <a:t>Infosys Springboard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07090"/>
                </a:solidFill>
              </a:rPr>
              <a:t>Virtual Internship 7.0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74320" y="51206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080"/>
                </a:solidFill>
              </a:rPr>
              <a:t>Batch 2  |  Data Visualization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389120" y="731520"/>
            <a:ext cx="74980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Threat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Analytics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Security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Visualization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4389120" y="429768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0C4FF"/>
                </a:solidFill>
              </a:rPr>
              <a:t>"Intelligent Security. Actionable Insights. Safer Tomorrow."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114800" y="50292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63946"/>
                </a:solidFill>
              </a:rPr>
              <a:t>7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4114800" y="55778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A0C4FF"/>
                </a:solidFill>
              </a:rPr>
              <a:t>Analytics Modules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0" y="50292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63946"/>
                </a:solidFill>
              </a:rPr>
              <a:t>4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0" y="55778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A0C4FF"/>
                </a:solidFill>
              </a:rPr>
              <a:t>Delivery Milestones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0" y="50292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63946"/>
                </a:solidFill>
              </a:rPr>
              <a:t>8</a:t>
            </a:r>
            <a:endParaRPr lang="en-US" sz="3600" dirty="0"/>
          </a:p>
        </p:txBody>
      </p:sp>
      <p:sp>
        <p:nvSpPr>
          <p:cNvPr id="16" name="Text 14"/>
          <p:cNvSpPr txBox="1"/>
          <p:nvPr/>
        </p:nvSpPr>
        <p:spPr>
          <a:xfrm>
            <a:off x="9601200" y="55778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A0C4FF"/>
                </a:solidFill>
              </a:rPr>
              <a:t>Week Rollout Plan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164592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❓  Project Statement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5486400" cy="5120640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2344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3946"/>
                </a:solidFill>
              </a:rPr>
              <a:t>⚠️  THE CHALLENGE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73736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Organizations responsible for public safety, critical infrastructure, enterprise security, and emergency management generate large volumes of incident, threat, operational, environmental, and situational data.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This data is scattered across multiple systems — making it difficult to: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42900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🔴  Identify emerging threats on time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904488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🔴  Understand incident patterns across locations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379976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🔴  Evaluate response effectiveness vs SLA targets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855464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🔴  Proactively mitigate future risks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5330952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🔴  Make fast and informed decisions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143000"/>
            <a:ext cx="5669280" cy="51206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0" y="12344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96F3"/>
                </a:solidFill>
              </a:rPr>
              <a:t>✅  THE FRAMEWORK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1737360"/>
            <a:ext cx="5303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DDDDD"/>
                </a:solidFill>
              </a:rPr>
              <a:t>The Advanced Threat Incident Analytics and Security Visualization Framework consolidates threat incidents, emergency events, environmental risk indicators, and operational response records into a unified analytics environment.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DDDDD"/>
                </a:solidFill>
              </a:rPr>
              <a:t>Enabling: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342900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</a:rPr>
              <a:t>🟢  Detect threat hotspots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3904488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</a:rPr>
              <a:t>🟢  Monitor incident trends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4379976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</a:rPr>
              <a:t>🟢  Optimize response strategies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4855464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</a:rPr>
              <a:t>🟢  Assess operational performance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5330952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</a:rPr>
              <a:t>🟢  Forecast emerging risk zones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274320" y="635508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888888"/>
                </a:solidFill>
              </a:rPr>
              <a:t>"Too much data — but no clear picture of what is happening."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164592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📂  About Our Dataset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148840" cy="128016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74320" y="1115568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274320" y="1508760"/>
            <a:ext cx="2148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96F3"/>
                </a:solidFill>
              </a:rPr>
              <a:t>1,00,000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274320" y="192024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Total Records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606040" y="1097280"/>
            <a:ext cx="2148840" cy="128016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606040" y="1115568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2606040" y="1508760"/>
            <a:ext cx="2148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8A745"/>
                </a:solidFill>
              </a:rPr>
              <a:t>15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606040" y="192024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Total Columns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937760" y="1097280"/>
            <a:ext cx="2148840" cy="128016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937760" y="1115568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🌍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937760" y="1508760"/>
            <a:ext cx="2148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A261"/>
                </a:solidFill>
              </a:rPr>
              <a:t>10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937760" y="192024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Countries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269480" y="1097280"/>
            <a:ext cx="2148840" cy="128016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269480" y="1115568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🏭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7269480" y="1508760"/>
            <a:ext cx="2148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3946"/>
                </a:solidFill>
              </a:rPr>
              <a:t>8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269480" y="192024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Industries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601200" y="1097280"/>
            <a:ext cx="2148840" cy="128016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601200" y="1115568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⚔️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9601200" y="1508760"/>
            <a:ext cx="2148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C27B0"/>
                </a:solidFill>
              </a:rPr>
              <a:t>8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9601200" y="192024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Attack Types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274320" y="2560320"/>
            <a:ext cx="1161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📋  All 15 Columns &amp; Their Purpose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74320" y="3017520"/>
            <a:ext cx="5669280" cy="384048"/>
          </a:xfrm>
          <a:prstGeom prst="rect">
            <a:avLst/>
          </a:prstGeom>
          <a:solidFill>
            <a:srgbClr val="EEF4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20040" y="3017520"/>
            <a:ext cx="20116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</a:rPr>
              <a:t>🔹 attack_type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2377440" y="3017520"/>
            <a:ext cx="35204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Type of attack — Phishing, DDoS, Ransomware etc.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3456432"/>
            <a:ext cx="566928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320040" y="3456432"/>
            <a:ext cx="20116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</a:rPr>
              <a:t>🔹 target_system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2377440" y="3456432"/>
            <a:ext cx="35204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System attacked — Cloud, IoT, Database, Email Server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4320" y="3895344"/>
            <a:ext cx="5669280" cy="384048"/>
          </a:xfrm>
          <a:prstGeom prst="rect">
            <a:avLst/>
          </a:prstGeom>
          <a:solidFill>
            <a:srgbClr val="EEF4F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320040" y="3895344"/>
            <a:ext cx="20116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</a:rPr>
              <a:t>🔹 outcome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2377440" y="3895344"/>
            <a:ext cx="35204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Attack result — Success or Failure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" y="4334256"/>
            <a:ext cx="566928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320040" y="4334256"/>
            <a:ext cx="20116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</a:rPr>
              <a:t>🔹 timestamp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2377440" y="4334256"/>
            <a:ext cx="35204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When the attack happened — date &amp; time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74320" y="4773168"/>
            <a:ext cx="5669280" cy="384048"/>
          </a:xfrm>
          <a:prstGeom prst="rect">
            <a:avLst/>
          </a:prstGeom>
          <a:solidFill>
            <a:srgbClr val="EEF4FF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320040" y="4773168"/>
            <a:ext cx="20116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</a:rPr>
              <a:t>🔹 data_compromised_GB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2377440" y="4773168"/>
            <a:ext cx="35204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How much data was stolen in GB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74320" y="5212080"/>
            <a:ext cx="566928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320040" y="5212080"/>
            <a:ext cx="20116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</a:rPr>
              <a:t>🔹 attack_severity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2377440" y="5212080"/>
            <a:ext cx="35204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Danger level of attack — score from 1 to 10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74320" y="5650992"/>
            <a:ext cx="5669280" cy="384048"/>
          </a:xfrm>
          <a:prstGeom prst="rect">
            <a:avLst/>
          </a:prstGeom>
          <a:solidFill>
            <a:srgbClr val="EEF4FF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320040" y="5650992"/>
            <a:ext cx="20116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</a:rPr>
              <a:t>🔹 location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2377440" y="5650992"/>
            <a:ext cx="35204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Which country was attacked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74320" y="6089904"/>
            <a:ext cx="566928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320040" y="6089904"/>
            <a:ext cx="20116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</a:rPr>
              <a:t>🔹 industry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2377440" y="6089904"/>
            <a:ext cx="35204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Sector attacked — Finance, Energy, Healthcare etc.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217920" y="3017520"/>
            <a:ext cx="5669280" cy="384048"/>
          </a:xfrm>
          <a:prstGeom prst="rect">
            <a:avLst/>
          </a:prstGeom>
          <a:solidFill>
            <a:srgbClr val="EEF4FF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6263640" y="3017520"/>
            <a:ext cx="20116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</a:rPr>
              <a:t>🔹 response_time_min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8321040" y="3017520"/>
            <a:ext cx="35204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How fast team responded in minutes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217920" y="3456432"/>
            <a:ext cx="566928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6263640" y="3456432"/>
            <a:ext cx="20116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</a:rPr>
              <a:t>🔹 mitigation_method</a:t>
            </a:r>
            <a:endParaRPr lang="en-US" sz="900" dirty="0"/>
          </a:p>
        </p:txBody>
      </p:sp>
      <p:sp>
        <p:nvSpPr>
          <p:cNvPr id="54" name="Text 52"/>
          <p:cNvSpPr txBox="1"/>
          <p:nvPr/>
        </p:nvSpPr>
        <p:spPr>
          <a:xfrm>
            <a:off x="8321040" y="3456432"/>
            <a:ext cx="35204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How attack was stopped — Patch, Quarantine etc.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217920" y="3895344"/>
            <a:ext cx="5669280" cy="384048"/>
          </a:xfrm>
          <a:prstGeom prst="rect">
            <a:avLst/>
          </a:prstGeom>
          <a:solidFill>
            <a:srgbClr val="EEF4FF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6263640" y="3895344"/>
            <a:ext cx="20116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</a:rPr>
              <a:t>🔹 security_tools_used</a:t>
            </a:r>
            <a:endParaRPr lang="en-US" sz="900" dirty="0"/>
          </a:p>
        </p:txBody>
      </p:sp>
      <p:sp>
        <p:nvSpPr>
          <p:cNvPr id="57" name="Text 55"/>
          <p:cNvSpPr txBox="1"/>
          <p:nvPr/>
        </p:nvSpPr>
        <p:spPr>
          <a:xfrm>
            <a:off x="8321040" y="3895344"/>
            <a:ext cx="35204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Tool used — Firewall, MFA, Antivirus etc.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217920" y="4334256"/>
            <a:ext cx="566928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6263640" y="4334256"/>
            <a:ext cx="20116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</a:rPr>
              <a:t>🔹 user_role</a:t>
            </a:r>
            <a:endParaRPr lang="en-US" sz="900" dirty="0"/>
          </a:p>
        </p:txBody>
      </p:sp>
      <p:sp>
        <p:nvSpPr>
          <p:cNvPr id="60" name="Text 58"/>
          <p:cNvSpPr txBox="1"/>
          <p:nvPr/>
        </p:nvSpPr>
        <p:spPr>
          <a:xfrm>
            <a:off x="8321040" y="4334256"/>
            <a:ext cx="35204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Who was targeted — Admin, Employee, External User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217920" y="4773168"/>
            <a:ext cx="5669280" cy="384048"/>
          </a:xfrm>
          <a:prstGeom prst="rect">
            <a:avLst/>
          </a:prstGeom>
          <a:solidFill>
            <a:srgbClr val="EEF4FF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6263640" y="4773168"/>
            <a:ext cx="20116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</a:rPr>
              <a:t>🔹 attack_duration_min</a:t>
            </a:r>
            <a:endParaRPr lang="en-US" sz="900" dirty="0"/>
          </a:p>
        </p:txBody>
      </p:sp>
      <p:sp>
        <p:nvSpPr>
          <p:cNvPr id="63" name="Text 61"/>
          <p:cNvSpPr txBox="1"/>
          <p:nvPr/>
        </p:nvSpPr>
        <p:spPr>
          <a:xfrm>
            <a:off x="8321040" y="4773168"/>
            <a:ext cx="35204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How long the attack lasted in minutes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217920" y="5212080"/>
            <a:ext cx="566928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6263640" y="5212080"/>
            <a:ext cx="20116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</a:rPr>
              <a:t>🔹 attacker_ip</a:t>
            </a:r>
            <a:endParaRPr lang="en-US" sz="900" dirty="0"/>
          </a:p>
        </p:txBody>
      </p:sp>
      <p:sp>
        <p:nvSpPr>
          <p:cNvPr id="66" name="Text 64"/>
          <p:cNvSpPr txBox="1"/>
          <p:nvPr/>
        </p:nvSpPr>
        <p:spPr>
          <a:xfrm>
            <a:off x="8321040" y="5212080"/>
            <a:ext cx="35204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IP address of attacker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6217920" y="5650992"/>
            <a:ext cx="5669280" cy="384048"/>
          </a:xfrm>
          <a:prstGeom prst="rect">
            <a:avLst/>
          </a:prstGeom>
          <a:solidFill>
            <a:srgbClr val="EEF4FF"/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6263640" y="5650992"/>
            <a:ext cx="20116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</a:rPr>
              <a:t>🔹 target_ip</a:t>
            </a:r>
            <a:endParaRPr lang="en-US" sz="900" dirty="0"/>
          </a:p>
        </p:txBody>
      </p:sp>
      <p:sp>
        <p:nvSpPr>
          <p:cNvPr id="69" name="Text 67"/>
          <p:cNvSpPr txBox="1"/>
          <p:nvPr/>
        </p:nvSpPr>
        <p:spPr>
          <a:xfrm>
            <a:off x="8321040" y="5650992"/>
            <a:ext cx="35204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IP address of victim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164592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🧹  Data Cleaning — What We Did &amp; Why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697480" cy="914400"/>
          </a:xfrm>
          <a:prstGeom prst="rect">
            <a:avLst/>
          </a:prstGeom>
          <a:solidFill>
            <a:srgbClr val="FFF8F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74320" y="1115568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⚠️  Missing Values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74320" y="1444752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3946"/>
                </a:solidFill>
              </a:rPr>
              <a:t>Before: 8 cells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274320" y="1682496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8A745"/>
                </a:solidFill>
              </a:rPr>
              <a:t>After: 0 cells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54680" y="1097280"/>
            <a:ext cx="2697480" cy="914400"/>
          </a:xfrm>
          <a:prstGeom prst="rect">
            <a:avLst/>
          </a:prstGeom>
          <a:solidFill>
            <a:srgbClr val="FFF8F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154680" y="1115568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📋  Duplicate Rows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154680" y="1444752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3946"/>
                </a:solidFill>
              </a:rPr>
              <a:t>Before: 3 rows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154680" y="1682496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8A745"/>
                </a:solidFill>
              </a:rPr>
              <a:t>After: 0 rows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1097280"/>
            <a:ext cx="2697480" cy="914400"/>
          </a:xfrm>
          <a:prstGeom prst="rect">
            <a:avLst/>
          </a:prstGeom>
          <a:solidFill>
            <a:srgbClr val="FFF8F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035040" y="1115568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❌  Invalid Values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035040" y="1444752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3946"/>
                </a:solidFill>
              </a:rPr>
              <a:t>Before: 4 values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1682496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8A745"/>
                </a:solidFill>
              </a:rPr>
              <a:t>After: 0 values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915400" y="1097280"/>
            <a:ext cx="2697480" cy="914400"/>
          </a:xfrm>
          <a:prstGeom prst="rect">
            <a:avLst/>
          </a:prstGeom>
          <a:solidFill>
            <a:srgbClr val="FFF8F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915400" y="1115568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📈  Data Quality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915400" y="1444752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3946"/>
                </a:solidFill>
              </a:rPr>
              <a:t>Before: 68%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915400" y="1682496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8A745"/>
                </a:solidFill>
              </a:rPr>
              <a:t>After: 100%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274320" y="2194560"/>
            <a:ext cx="1161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🔧  6 Steps We Followed: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2633472"/>
            <a:ext cx="11612880" cy="548640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20040" y="2633472"/>
            <a:ext cx="118872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🔴  Step 1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554480" y="2633472"/>
            <a:ext cx="219456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</a:rPr>
              <a:t>Missing Values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3840480" y="2633472"/>
            <a:ext cx="795528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Filled empty cells with "Unknown" or "None" using fillna()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246120"/>
            <a:ext cx="11612880" cy="548640"/>
          </a:xfrm>
          <a:prstGeom prst="rect">
            <a:avLst/>
          </a:prstGeom>
          <a:solidFill>
            <a:srgbClr val="FFF8F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20040" y="3246120"/>
            <a:ext cx="118872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🟠  Step 2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554480" y="3246120"/>
            <a:ext cx="219456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</a:rPr>
              <a:t>Invalid Values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3840480" y="3246120"/>
            <a:ext cx="795528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Fixed attack_severity &gt; 10, negative response time, negative data_GB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858768"/>
            <a:ext cx="11612880" cy="548640"/>
          </a:xfrm>
          <a:prstGeom prst="rect">
            <a:avLst/>
          </a:prstGeom>
          <a:solidFill>
            <a:srgbClr val="FFFFF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320040" y="3858768"/>
            <a:ext cx="118872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🟡  Step 3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554480" y="3858768"/>
            <a:ext cx="219456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</a:rPr>
              <a:t>Duplicate Rows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3840480" y="3858768"/>
            <a:ext cx="795528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Removed 3 exact duplicate rows using drop_duplicates()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4471416"/>
            <a:ext cx="11612880" cy="54864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320040" y="4471416"/>
            <a:ext cx="118872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🔵  Step 4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1554480" y="4471416"/>
            <a:ext cx="219456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</a:rPr>
              <a:t>Inconsistent Text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3840480" y="4471416"/>
            <a:ext cx="795528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Standardized case using str.capitalize() and str.strip()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4320" y="5084064"/>
            <a:ext cx="11612880" cy="548640"/>
          </a:xfrm>
          <a:prstGeom prst="rect">
            <a:avLst/>
          </a:prstGeom>
          <a:solidFill>
            <a:srgbClr val="F8F0FF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320040" y="5084064"/>
            <a:ext cx="118872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🟣  Step 5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1554480" y="5084064"/>
            <a:ext cx="219456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</a:rPr>
              <a:t>Wrong Timestamp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3840480" y="5084064"/>
            <a:ext cx="795528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Converted all dates to YYYY-MM-DD HH:MM:SS format using pd.to_datetime()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74320" y="5696712"/>
            <a:ext cx="11612880" cy="548640"/>
          </a:xfrm>
          <a:prstGeom prst="rect">
            <a:avLst/>
          </a:prstGeom>
          <a:solidFill>
            <a:srgbClr val="F0FFF0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320040" y="5696712"/>
            <a:ext cx="118872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🟢  Step 6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1554480" y="5696712"/>
            <a:ext cx="219456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</a:rPr>
              <a:t>Data Type Mismatch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3840480" y="5696712"/>
            <a:ext cx="795528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Converted columns to correct int, float, and datetime types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164592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⭐  Star Schema — How We Organized Data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10515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We divided our dataset into 1 Fact Table (center) and 5 Dimension Tables around it — like a star!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108960" y="2194560"/>
            <a:ext cx="1463040" cy="1371600"/>
          </a:xfrm>
          <a:prstGeom prst="line">
            <a:avLst/>
          </a:prstGeom>
          <a:noFill/>
          <a:ln w="25400">
            <a:solidFill>
              <a:srgbClr val="2196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3108960" y="3566160"/>
            <a:ext cx="1463040" cy="1280160"/>
          </a:xfrm>
          <a:prstGeom prst="line">
            <a:avLst/>
          </a:prstGeom>
          <a:noFill/>
          <a:ln w="25400">
            <a:solidFill>
              <a:srgbClr val="2196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7589520" y="3566160"/>
            <a:ext cx="1371600" cy="-1371600"/>
          </a:xfrm>
          <a:prstGeom prst="line">
            <a:avLst/>
          </a:prstGeom>
          <a:noFill/>
          <a:ln w="25400">
            <a:solidFill>
              <a:srgbClr val="2196F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89520" y="3566160"/>
            <a:ext cx="1371600" cy="1280160"/>
          </a:xfrm>
          <a:prstGeom prst="line">
            <a:avLst/>
          </a:prstGeom>
          <a:noFill/>
          <a:ln w="25400">
            <a:solidFill>
              <a:srgbClr val="2196F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80760" y="4754880"/>
            <a:ext cx="0" cy="822960"/>
          </a:xfrm>
          <a:prstGeom prst="line">
            <a:avLst/>
          </a:prstGeom>
          <a:noFill/>
          <a:ln w="25400">
            <a:solidFill>
              <a:srgbClr val="2196F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2468880"/>
            <a:ext cx="3017520" cy="2286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0" y="2542032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⚡ FACT_INCIDENT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(Main Table)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3154680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C4FF"/>
                </a:solidFill>
              </a:rPr>
              <a:t>• incident_key (PK)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392424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C4FF"/>
                </a:solidFill>
              </a:rPr>
              <a:t>• TSI Score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3630168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C4FF"/>
                </a:solidFill>
              </a:rPr>
              <a:t>• attack_severity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3867912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C4FF"/>
                </a:solidFill>
              </a:rPr>
              <a:t>• response_time_min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4105656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C4FF"/>
                </a:solidFill>
              </a:rPr>
              <a:t>• data_compromised_GB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4663440" y="4343400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C4FF"/>
                </a:solidFill>
              </a:rPr>
              <a:t>• outcome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82880" y="1463040"/>
            <a:ext cx="2926080" cy="14630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82880" y="1536192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📅  DIM_TIME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274320" y="193852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DDDD"/>
                </a:solidFill>
              </a:rPr>
              <a:t>• time_key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274320" y="2194560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DDDD"/>
                </a:solidFill>
              </a:rPr>
              <a:t>• hour, day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274320" y="245059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DDDD"/>
                </a:solidFill>
              </a:rPr>
              <a:t>• month, year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82880" y="4114800"/>
            <a:ext cx="2926080" cy="146304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82880" y="4187952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🌍  DIM_LOCATION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274320" y="459028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DDDD"/>
                </a:solidFill>
              </a:rPr>
              <a:t>• location_key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274320" y="4846320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DDDD"/>
                </a:solidFill>
              </a:rPr>
              <a:t>• location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274320" y="510235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DDDD"/>
                </a:solidFill>
              </a:rPr>
              <a:t>• country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961120" y="1463040"/>
            <a:ext cx="2926080" cy="1463040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961120" y="1536192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⚔️  DIM_THREAT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9052560" y="193852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DDDD"/>
                </a:solidFill>
              </a:rPr>
              <a:t>• threat_key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9052560" y="2194560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DDDD"/>
                </a:solidFill>
              </a:rPr>
              <a:t>• attack_type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9052560" y="245059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DDDD"/>
                </a:solidFill>
              </a:rPr>
              <a:t>• severity_category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961120" y="4114800"/>
            <a:ext cx="2926080" cy="146304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961120" y="4187952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🏭  DIM_INDUSTRY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9052560" y="459028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DDDD"/>
                </a:solidFill>
              </a:rPr>
              <a:t>• industry_key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9052560" y="4846320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DDDD"/>
                </a:solidFill>
              </a:rPr>
              <a:t>• industry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9052560" y="510235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DDDD"/>
                </a:solidFill>
              </a:rPr>
              <a:t>• target_system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0" y="5120640"/>
            <a:ext cx="2926080" cy="1280160"/>
          </a:xfrm>
          <a:prstGeom prst="rect">
            <a:avLst/>
          </a:prstGeom>
          <a:solidFill>
            <a:srgbClr val="4A148C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4572000" y="5193792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⚡  DIM_RESPONSE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4663440" y="559612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DDDD"/>
                </a:solidFill>
              </a:rPr>
              <a:t>• response_key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4663440" y="5852160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DDDD"/>
                </a:solidFill>
              </a:rPr>
              <a:t>• response_time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4663440" y="610819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DDDD"/>
                </a:solidFill>
              </a:rPr>
              <a:t>• mitigation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457200" y="6492240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</a:rPr>
              <a:t>All tables connected through keys  |  1 Fact Table + 5 Dimension Tables = Star Schema ⭐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164592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⚡  TSI Score — Threat Severity Index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1097280"/>
            <a:ext cx="11430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TSI tells us how dangerous each attack is — combining 3 factors into one score.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11430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17830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TSI  =  ( Attack Severity × 0.4 )  +  ( Data Compromised / 100 × 10 × 0.3 )  +  ( Response Time / 180 × 10 × 0.3 )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651760"/>
            <a:ext cx="3703320" cy="22860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5760" y="2724912"/>
            <a:ext cx="3703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3946"/>
                </a:solidFill>
              </a:rPr>
              <a:t>⚔️  Attack Severity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371600" y="3127248"/>
            <a:ext cx="1691640" cy="34747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371600" y="3127248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Weight: 40%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547872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How dangerous the attack is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950208"/>
            <a:ext cx="3520440" cy="82296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2920" y="3968496"/>
            <a:ext cx="3429000" cy="7863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Severity = 7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× 0.4 = 2.8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297680" y="2651760"/>
            <a:ext cx="3703320" cy="22860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297680" y="2724912"/>
            <a:ext cx="3703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96F3"/>
                </a:solidFill>
              </a:rPr>
              <a:t>💾  Data Compromised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0" y="3127248"/>
            <a:ext cx="1691640" cy="347472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303520" y="3127248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Weight: 30%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389120" y="3547872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How much damage was done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389120" y="3950208"/>
            <a:ext cx="3520440" cy="82296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434840" y="3968496"/>
            <a:ext cx="3429000" cy="7863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65 GB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(65/100×10)×0.3 = 1.95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229600" y="2651760"/>
            <a:ext cx="3703320" cy="22860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29600" y="2724912"/>
            <a:ext cx="3703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A261"/>
                </a:solidFill>
              </a:rPr>
              <a:t>⏱️  Response Time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235440" y="3127248"/>
            <a:ext cx="1691640" cy="34747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235440" y="3127248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Weight: 30%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321040" y="3547872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How late the team responded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321040" y="3950208"/>
            <a:ext cx="3520440" cy="82296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366760" y="3968496"/>
            <a:ext cx="3429000" cy="7863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 = 90 min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(90/180×10)×0.3 = 1.5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365760" y="51663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TSI Score Range: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5577840"/>
            <a:ext cx="2743200" cy="50292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365760" y="55778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0–3  Low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246120" y="5577840"/>
            <a:ext cx="2743200" cy="50292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3246120" y="55778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3–5  Medium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126480" y="5577840"/>
            <a:ext cx="2743200" cy="5029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126480" y="55778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5–7  High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9006840" y="5577840"/>
            <a:ext cx="2743200" cy="5029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006840" y="55778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7–10  Critical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365760" y="6217920"/>
            <a:ext cx="11430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3946"/>
                </a:solidFill>
              </a:rPr>
              <a:t>Our Dataset TSI Score: 5.21 — HIGH THREAT ⚠️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164592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🗓️  8-Week Delivery Roadmap — 4 Milestones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743200" cy="54864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97280"/>
            <a:ext cx="2743200" cy="11430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74320" y="114300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Milestone 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74320" y="15087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DDDD"/>
                </a:solidFill>
              </a:rPr>
              <a:t>Weeks 1–2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74320" y="237744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</a:rPr>
              <a:t>Data Integration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</a:rPr>
              <a:t>&amp; Incident Modeling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84048" y="3127248"/>
            <a:ext cx="2514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• Collect &amp; clean dataset (1 lakh records)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84048" y="3675888"/>
            <a:ext cx="2514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• Build Python ETL pipeline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84048" y="4224528"/>
            <a:ext cx="2514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• Design Star Schema (1 fact + 5 dim)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84048" y="4773168"/>
            <a:ext cx="2514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• Calculate TSI Score baseline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6035040"/>
            <a:ext cx="2194560" cy="34747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60350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✅ Done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0" y="1097280"/>
            <a:ext cx="2743200" cy="54864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6" name="Shape 14"/>
          <p:cNvSpPr/>
          <p:nvPr/>
        </p:nvSpPr>
        <p:spPr>
          <a:xfrm>
            <a:off x="3200400" y="1097280"/>
            <a:ext cx="2743200" cy="11430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200400" y="114300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Milestone 2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200400" y="15087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DDDD"/>
                </a:solidFill>
              </a:rPr>
              <a:t>Weeks 3–4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3200400" y="237744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3946"/>
                </a:solidFill>
              </a:rPr>
              <a:t>Threat Intelligence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63946"/>
                </a:solidFill>
              </a:rPr>
              <a:t>&amp; Temporal Analytics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3310128" y="3127248"/>
            <a:ext cx="2514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• Build TSI Gauge dashboard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3310128" y="3675888"/>
            <a:ext cx="2514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• Classify 8 attack types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3310128" y="4224528"/>
            <a:ext cx="2514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• Monthly trend analysis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3310128" y="4773168"/>
            <a:ext cx="2514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• Security tools usage analysis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74720" y="6035040"/>
            <a:ext cx="2194560" cy="34747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474720" y="60350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✅ Done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26480" y="1097280"/>
            <a:ext cx="2743200" cy="54864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7" name="Shape 25"/>
          <p:cNvSpPr/>
          <p:nvPr/>
        </p:nvSpPr>
        <p:spPr>
          <a:xfrm>
            <a:off x="6126480" y="1097280"/>
            <a:ext cx="2743200" cy="114300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126480" y="114300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Milestone 3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126480" y="15087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DDDD"/>
                </a:solidFill>
              </a:rPr>
              <a:t>Weeks 5–6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6126480" y="237744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E20"/>
                </a:solidFill>
              </a:rPr>
              <a:t>Geospatial Intelligence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5E20"/>
                </a:solidFill>
              </a:rPr>
              <a:t>&amp; Response Analytics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236208" y="3127248"/>
            <a:ext cx="2514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• World threat hotspot map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6236208" y="3675888"/>
            <a:ext cx="2514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• Country-wise response time bar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6236208" y="4224528"/>
            <a:ext cx="2514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• Industry × Location heatmap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6236208" y="4773168"/>
            <a:ext cx="2514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• Response performance metrics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00800" y="6035040"/>
            <a:ext cx="2194560" cy="34747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400800" y="60350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✅ Done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052560" y="1097280"/>
            <a:ext cx="2743200" cy="54864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8" name="Shape 36"/>
          <p:cNvSpPr/>
          <p:nvPr/>
        </p:nvSpPr>
        <p:spPr>
          <a:xfrm>
            <a:off x="9052560" y="1097280"/>
            <a:ext cx="2743200" cy="114300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9052560" y="114300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Milestone 4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9052560" y="15087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DDDD"/>
                </a:solidFill>
              </a:rPr>
              <a:t>Weeks 7–8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9052560" y="237744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5100"/>
                </a:solidFill>
              </a:rPr>
              <a:t>Risk Intelligence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65100"/>
                </a:solidFill>
              </a:rPr>
              <a:t>&amp; Executive Analytics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9162288" y="3127248"/>
            <a:ext cx="2514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• Security Risk Scorecard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9162288" y="3675888"/>
            <a:ext cx="2514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• Industry risk analysis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162288" y="4224528"/>
            <a:ext cx="2514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• Platform risk gauge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9162288" y="4773168"/>
            <a:ext cx="2514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• Executive command center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9326880" y="6035040"/>
            <a:ext cx="2194560" cy="347472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9326880" y="60350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✅ Done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🏠  Dashboard Page 1 — Overview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686800" y="25603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C4FF"/>
                </a:solidFill>
              </a:rPr>
              <a:t>Milestone 1 — Weeks 1–2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78892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1480" y="1170432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🚨 Total Incidents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144475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3946"/>
                </a:solidFill>
              </a:rPr>
              <a:t>1,00,000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11480" y="1883664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All recorded attacks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46120" y="1143000"/>
            <a:ext cx="278892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83280" y="1170432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⚡ Avg TSI Score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144475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96F3"/>
                </a:solidFill>
              </a:rPr>
              <a:t>5.21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1883664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High Threat Level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17920" y="1143000"/>
            <a:ext cx="278892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55080" y="1170432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⏱️ Avg Response Time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144475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A261"/>
                </a:solidFill>
              </a:rPr>
              <a:t>90 Min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1883664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Target: under 60 min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189720" y="1143000"/>
            <a:ext cx="278892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326880" y="1170432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💾 Data Compromised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9326880" y="144475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A745"/>
                </a:solidFill>
              </a:rPr>
              <a:t>5.01M GB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9326880" y="1883664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Total across all attacks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2423160"/>
            <a:ext cx="11612880" cy="9601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11480" y="246888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</a:rPr>
              <a:t>⚔️  Bar Chart — Incidents by Attack Type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11480" y="283464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📌 Horizontal bars showing count of each attack type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669280" y="2496312"/>
            <a:ext cx="6126480" cy="749808"/>
          </a:xfrm>
          <a:prstGeom prst="rect">
            <a:avLst/>
          </a:prstGeom>
          <a:solidFill>
            <a:srgbClr val="E8F4E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760720" y="2496312"/>
            <a:ext cx="603504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5E20"/>
                </a:solidFill>
              </a:rPr>
              <a:t>✅ Why: Best for comparing 8 categories — see which attack is most common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3474720"/>
            <a:ext cx="11612880" cy="9601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11480" y="352044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A745"/>
                </a:solidFill>
              </a:rPr>
              <a:t>🎯  Donut Chart — Attack Outcome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11480" y="388620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📌 Shows Success vs Failure split of all 1 lakh attacks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669280" y="3547872"/>
            <a:ext cx="6126480" cy="749808"/>
          </a:xfrm>
          <a:prstGeom prst="rect">
            <a:avLst/>
          </a:prstGeom>
          <a:solidFill>
            <a:srgbClr val="E8F4E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760720" y="3547872"/>
            <a:ext cx="603504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5E20"/>
                </a:solidFill>
              </a:rPr>
              <a:t>✅ Why: Pie/donut best for showing proportion — 50% success vs 50% failure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4320" y="4526280"/>
            <a:ext cx="11612880" cy="9601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11480" y="457200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</a:rPr>
              <a:t>🚦  Donut Chart — Severity Distribution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411480" y="493776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📌 Shows Critical, High, Medium, Low % split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669280" y="4599432"/>
            <a:ext cx="6126480" cy="749808"/>
          </a:xfrm>
          <a:prstGeom prst="rect">
            <a:avLst/>
          </a:prstGeom>
          <a:solidFill>
            <a:srgbClr val="E8F4E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760720" y="4599432"/>
            <a:ext cx="603504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5E20"/>
                </a:solidFill>
              </a:rPr>
              <a:t>✅ Why: Shows distribution — Critical 12.5%, Medium 37.63%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74320" y="5577840"/>
            <a:ext cx="11612880" cy="9601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411480" y="562356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96F3"/>
                </a:solidFill>
              </a:rPr>
              <a:t>🏭  Column Chart — Most Targeted Industries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411480" y="598932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📌 8 industries compared by incident count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669280" y="5650992"/>
            <a:ext cx="6126480" cy="749808"/>
          </a:xfrm>
          <a:prstGeom prst="rect">
            <a:avLst/>
          </a:prstGeom>
          <a:solidFill>
            <a:srgbClr val="E8F4EA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5760720" y="5650992"/>
            <a:ext cx="603504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5E20"/>
                </a:solidFill>
              </a:rPr>
              <a:t>✅ Why: Column chart best for multiple categories — Government highest at 12,645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🎯  Dashboard Page 2 — Threat Intelligence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686800" y="25603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C4FF"/>
                </a:solidFill>
              </a:rPr>
              <a:t>Milestone 2 — Weeks 3–4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78892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1480" y="1170432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⚡ Overall TSI Score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144475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3946"/>
                </a:solidFill>
              </a:rPr>
              <a:t>5.21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11480" y="1883664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HIGH Threat Level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46120" y="1143000"/>
            <a:ext cx="278892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83280" y="1170432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🔶 Critical Incidents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144475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A261"/>
                </a:solidFill>
              </a:rPr>
              <a:t>12,499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1883664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Ransomware only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17920" y="1143000"/>
            <a:ext cx="278892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55080" y="1170432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📈 High Severity Count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144475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96F3"/>
                </a:solidFill>
              </a:rPr>
              <a:t>25,024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1883664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Zero-Day &amp; Malware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189720" y="1143000"/>
            <a:ext cx="278892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326880" y="1170432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🧠 Avg Severity Score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9326880" y="144475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C27B0"/>
                </a:solidFill>
              </a:rPr>
              <a:t>5.50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9326880" y="1883664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Out of 10 max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2423160"/>
            <a:ext cx="11612880" cy="9601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11480" y="246888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</a:rPr>
              <a:t>⚡  Gauge Chart — Threat Severity Index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11480" y="283464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📌 Semicircle gauge showing TSI 5.21 out of 10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669280" y="2496312"/>
            <a:ext cx="6126480" cy="749808"/>
          </a:xfrm>
          <a:prstGeom prst="rect">
            <a:avLst/>
          </a:prstGeom>
          <a:solidFill>
            <a:srgbClr val="E8F4E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760720" y="2496312"/>
            <a:ext cx="603504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5E20"/>
                </a:solidFill>
              </a:rPr>
              <a:t>✅ Why: Gauge best for showing a score within a range — Red zone = High threat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3474720"/>
            <a:ext cx="11612880" cy="9601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11480" y="352044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96F3"/>
                </a:solidFill>
              </a:rPr>
              <a:t>📅  Bar Chart — Monthly Incident Trend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11480" y="388620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📌 12 months with incident count — March highest 8.6K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669280" y="3547872"/>
            <a:ext cx="6126480" cy="749808"/>
          </a:xfrm>
          <a:prstGeom prst="rect">
            <a:avLst/>
          </a:prstGeom>
          <a:solidFill>
            <a:srgbClr val="E8F4E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760720" y="3547872"/>
            <a:ext cx="603504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5E20"/>
                </a:solidFill>
              </a:rPr>
              <a:t>✅ Why: Bar chart shows monthly comparison — multi-color highlights peaks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4320" y="4526280"/>
            <a:ext cx="11612880" cy="9601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11480" y="457200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</a:rPr>
              <a:t>🍩  Donut Chart — Incident Categories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411480" y="493776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📌 8 attack types each at ~12.5% distribution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669280" y="4599432"/>
            <a:ext cx="6126480" cy="749808"/>
          </a:xfrm>
          <a:prstGeom prst="rect">
            <a:avLst/>
          </a:prstGeom>
          <a:solidFill>
            <a:srgbClr val="E8F4E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760720" y="4599432"/>
            <a:ext cx="603504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5E20"/>
                </a:solidFill>
              </a:rPr>
              <a:t>✅ Why: Donut shows proportional split — no single type dominates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74320" y="5577840"/>
            <a:ext cx="11612880" cy="9601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411480" y="562356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A745"/>
                </a:solidFill>
              </a:rPr>
              <a:t>🛠️  Bar Chart — Security Tools Usage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411480" y="598932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📌 8 tools ranked — Endpoint Detection leads at 145,231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669280" y="5650992"/>
            <a:ext cx="6126480" cy="749808"/>
          </a:xfrm>
          <a:prstGeom prst="rect">
            <a:avLst/>
          </a:prstGeom>
          <a:solidFill>
            <a:srgbClr val="E8F4EA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5760720" y="5650992"/>
            <a:ext cx="603504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5E20"/>
                </a:solidFill>
              </a:rPr>
              <a:t>✅ Why: Bar chart compares tool usage — helps prioritize security investments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🗺️  Dashboard Page 3 — Geospatial &amp; Response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686800" y="25603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C4FF"/>
                </a:solidFill>
              </a:rPr>
              <a:t>Milestone 3 — Weeks 5–6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78892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1480" y="1170432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🌍 Most Attacked Country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144475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3946"/>
                </a:solidFill>
              </a:rPr>
              <a:t>India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11480" y="1883664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Highest incident count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46120" y="1143000"/>
            <a:ext cx="278892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83280" y="1170432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⏱️ Avg Response Time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144475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96F3"/>
                </a:solidFill>
              </a:rPr>
              <a:t>90.78 Min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1883664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Target: under 60 min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17920" y="1143000"/>
            <a:ext cx="278892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55080" y="1170432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🌐 Total Locations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144475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A745"/>
                </a:solidFill>
              </a:rPr>
              <a:t>10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1883664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Countries attacked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189720" y="1143000"/>
            <a:ext cx="278892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326880" y="1170432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⚠️ Max Response Time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9326880" y="144475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261"/>
                </a:solidFill>
              </a:rPr>
              <a:t>180 Min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9326880" y="1883664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Slowest response recorded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2423160"/>
            <a:ext cx="11612880" cy="9601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11480" y="246888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</a:rPr>
              <a:t>🗺️  Map Visual — Global Threat Hotspot Map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11480" y="283464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📌 World map with red bubbles showing attack locations across 10 countries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669280" y="2496312"/>
            <a:ext cx="6126480" cy="749808"/>
          </a:xfrm>
          <a:prstGeom prst="rect">
            <a:avLst/>
          </a:prstGeom>
          <a:solidFill>
            <a:srgbClr val="E8F4E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760720" y="2496312"/>
            <a:ext cx="603504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5E20"/>
                </a:solidFill>
              </a:rPr>
              <a:t>✅ Why: Map is best for geographic data — instantly shows which country is most attacked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3474720"/>
            <a:ext cx="11612880" cy="9601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11480" y="352044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96F3"/>
                </a:solidFill>
              </a:rPr>
              <a:t>⏱️  Bar Chart — Avg Response Time by Location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11480" y="388620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📌 10 countries ranked by average response time — India highest at 91.3 min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669280" y="3547872"/>
            <a:ext cx="6126480" cy="749808"/>
          </a:xfrm>
          <a:prstGeom prst="rect">
            <a:avLst/>
          </a:prstGeom>
          <a:solidFill>
            <a:srgbClr val="E8F4E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760720" y="3547872"/>
            <a:ext cx="603504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5E20"/>
                </a:solidFill>
              </a:rPr>
              <a:t>✅ Why: Bar chart compares response efficiency — identifies countries needing improvement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4320" y="4526280"/>
            <a:ext cx="11612880" cy="9601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11480" y="457200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</a:rPr>
              <a:t>🔥  Matrix Table — Industry vs Location Heatmap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411480" y="493776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📌 10 countries × 8 industries showing incident count with color coding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669280" y="4599432"/>
            <a:ext cx="6126480" cy="749808"/>
          </a:xfrm>
          <a:prstGeom prst="rect">
            <a:avLst/>
          </a:prstGeom>
          <a:solidFill>
            <a:srgbClr val="E8F4E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760720" y="4599432"/>
            <a:ext cx="603504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5E20"/>
                </a:solidFill>
              </a:rPr>
              <a:t>✅ Why: Heatmap shows two-dimensional patterns — red = critical, green = low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74320" y="5577840"/>
            <a:ext cx="11612880" cy="9601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411480" y="562356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A745"/>
                </a:solidFill>
              </a:rPr>
              <a:t>📝  Key Insights Panel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411480" y="598932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📌 3 summary lines — India &amp; USA most attacked, 90 min avg response, Containment most used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669280" y="5650992"/>
            <a:ext cx="6126480" cy="749808"/>
          </a:xfrm>
          <a:prstGeom prst="rect">
            <a:avLst/>
          </a:prstGeom>
          <a:solidFill>
            <a:srgbClr val="E8F4EA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5760720" y="5650992"/>
            <a:ext cx="603504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5E20"/>
                </a:solidFill>
              </a:rPr>
              <a:t>✅ Why: Gives executives a quick text summary of the most important geospatial findings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📊  Dashboard Page 4 — Executive Summary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686800" y="25603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C4FF"/>
                </a:solidFill>
              </a:rPr>
              <a:t>Milestone 4 — Weeks 7–8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18288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65760" y="117043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⚡ Overall TSI Score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1426464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3946"/>
                </a:solidFill>
              </a:rPr>
              <a:t>5.21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240280" y="1143000"/>
            <a:ext cx="18288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331720" y="117043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📋 SLA Compliance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2331720" y="1426464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96F3"/>
                </a:solidFill>
              </a:rPr>
              <a:t>33.3%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06240" y="1143000"/>
            <a:ext cx="18288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297680" y="117043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✅ Attacks Resolved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4297680" y="1426464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A745"/>
                </a:solidFill>
              </a:rPr>
              <a:t>~50,030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72200" y="1143000"/>
            <a:ext cx="18288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63640" y="117043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💾 Total Data at Risk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1426464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</a:rPr>
              <a:t>5.01M GB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138160" y="1143000"/>
            <a:ext cx="18288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0" y="117043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🚨 Critical Attacks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0" y="1426464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27B0"/>
                </a:solidFill>
              </a:rPr>
              <a:t>12,499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0104120" y="1143000"/>
            <a:ext cx="18288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195560" y="117043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⏳ Avg Attack Duration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10195560" y="1426464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CD4"/>
                </a:solidFill>
              </a:rPr>
              <a:t>151.8 Min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74320" y="2286000"/>
            <a:ext cx="11612880" cy="10058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11480" y="2340864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</a:rPr>
              <a:t>📈  Line Chart — Incident Trend &amp; TSI Score by Month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11480" y="274320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📌 Two lines — Blue = incident count, Red = TSI score trend over 12 months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669280" y="2377440"/>
            <a:ext cx="6126480" cy="786384"/>
          </a:xfrm>
          <a:prstGeom prst="rect">
            <a:avLst/>
          </a:prstGeom>
          <a:solidFill>
            <a:srgbClr val="E8F4E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760720" y="2377440"/>
            <a:ext cx="6035040" cy="7863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5E20"/>
                </a:solidFill>
              </a:rPr>
              <a:t>✅ Why: Line chart shows change over time — identify upward/downward trends monthly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3383280"/>
            <a:ext cx="11612880" cy="10058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11480" y="3438144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96F3"/>
                </a:solidFill>
              </a:rPr>
              <a:t>🎯  Table — Security Risk Scorecard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411480" y="384048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📌 Industry × Severity × TSI Score table — Energy &amp; Finance marked Critical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669280" y="3474720"/>
            <a:ext cx="6126480" cy="786384"/>
          </a:xfrm>
          <a:prstGeom prst="rect">
            <a:avLst/>
          </a:prstGeom>
          <a:solidFill>
            <a:srgbClr val="E8F4E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760720" y="3474720"/>
            <a:ext cx="6035040" cy="7863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5E20"/>
                </a:solidFill>
              </a:rPr>
              <a:t>✅ Why: Scorecard gives quick executive view — which industry is most at risk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4480560"/>
            <a:ext cx="11612880" cy="10058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11480" y="4535424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</a:rPr>
              <a:t>🏭  Bar Chart — Industry Risk Analysis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411480" y="493776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📌 8 industries ranked by incident count — Government highest at 12,645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669280" y="4572000"/>
            <a:ext cx="6126480" cy="786384"/>
          </a:xfrm>
          <a:prstGeom prst="rect">
            <a:avLst/>
          </a:prstGeom>
          <a:solidFill>
            <a:srgbClr val="E8F4EA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5760720" y="4572000"/>
            <a:ext cx="6035040" cy="7863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5E20"/>
                </a:solidFill>
              </a:rPr>
              <a:t>✅ Why: Bar chart compares all industries — helps prioritize security budgets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74320" y="5577840"/>
            <a:ext cx="11612880" cy="10058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411480" y="5632704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8A745"/>
                </a:solidFill>
              </a:rPr>
              <a:t>🔰  Gauge — Platform Risk Level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411480" y="603504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📌 TSI Gauge 5.21 vs Target ≤ 5.0 with SLA 33.4% and Uptime 99.1%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669280" y="5669280"/>
            <a:ext cx="6126480" cy="786384"/>
          </a:xfrm>
          <a:prstGeom prst="rect">
            <a:avLst/>
          </a:prstGeom>
          <a:solidFill>
            <a:srgbClr val="E8F4EA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5760720" y="5669280"/>
            <a:ext cx="6035040" cy="7863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5E20"/>
                </a:solidFill>
              </a:rPr>
              <a:t>✅ Why: Gauge gives instant risk level — Red zone means action needed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164592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🔑  Key Findings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56692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11480" y="1216152"/>
            <a:ext cx="5440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🚨  Brute Force is the most common attack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600200"/>
            <a:ext cx="5394960" cy="34747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11480" y="1600200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12,605 incidents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2221992"/>
            <a:ext cx="56692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11480" y="2295144"/>
            <a:ext cx="5440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🏛️  Government sector is most targeted industry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679192"/>
            <a:ext cx="5394960" cy="347472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11480" y="2679192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12,645 incidents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3300984"/>
            <a:ext cx="56692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11480" y="3374136"/>
            <a:ext cx="5440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🌍  India has highest avg response time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3758184"/>
            <a:ext cx="5394960" cy="34747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11480" y="3758184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91.3 minutes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4379976"/>
            <a:ext cx="56692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11480" y="4453128"/>
            <a:ext cx="5440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📅  March recorded highest monthly incidents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4837176"/>
            <a:ext cx="5394960" cy="347472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11480" y="4837176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8,600 incidents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5458968"/>
            <a:ext cx="56692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11480" y="5532120"/>
            <a:ext cx="5440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🛠️  Endpoint Detection is most used security tool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1480" y="5916168"/>
            <a:ext cx="5394960" cy="347472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11480" y="5916168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145,231 deployments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17920" y="1143000"/>
            <a:ext cx="56692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55080" y="1216152"/>
            <a:ext cx="5440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✅  50% of attacks were successfully stopped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55080" y="1600200"/>
            <a:ext cx="5394960" cy="347472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355080" y="1600200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50,030 resolved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17920" y="2221992"/>
            <a:ext cx="56692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55080" y="2295144"/>
            <a:ext cx="5440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💾  Total data compromised across all incidents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355080" y="2679192"/>
            <a:ext cx="5394960" cy="34747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355080" y="2679192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5.01 Million GB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17920" y="3300984"/>
            <a:ext cx="56692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355080" y="3374136"/>
            <a:ext cx="5440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⚡  Overall Threat Severity Index score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355080" y="3758184"/>
            <a:ext cx="5394960" cy="34747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355080" y="3758184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5.21 — HIGH THREAT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217920" y="4379976"/>
            <a:ext cx="56692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355080" y="4453128"/>
            <a:ext cx="5440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📋  SLA Compliance rate — below 60 min target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355080" y="4837176"/>
            <a:ext cx="5394960" cy="347472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355080" y="4837176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Only 33.3%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217920" y="5458968"/>
            <a:ext cx="56692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355080" y="5532120"/>
            <a:ext cx="5440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🔴  Ransomware is the only Critical level attack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355080" y="5916168"/>
            <a:ext cx="5394960" cy="34747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6355080" y="5916168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12,499 incidents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164592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🛠️  Tools &amp; Technologies Used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5669280" cy="16916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143000"/>
            <a:ext cx="5669280" cy="5029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84048" y="1216152"/>
            <a:ext cx="54498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🐍  Python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84048" y="1709928"/>
            <a:ext cx="54498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</a:rPr>
              <a:t>📌 Core programming language for data processing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384048" y="2057400"/>
            <a:ext cx="54498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✅ Used for: ETL pipeline, Star Schema creation, TSI calculation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5669280" cy="16916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0" y="1143000"/>
            <a:ext cx="5669280" cy="5029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27648" y="1216152"/>
            <a:ext cx="54498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🐼  Pandas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327648" y="1709928"/>
            <a:ext cx="54498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</a:rPr>
              <a:t>📌 Data manipulation and transformation library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327648" y="2057400"/>
            <a:ext cx="54498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✅ Used for: Data cleaning, feature engineering, CSV export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971800"/>
            <a:ext cx="5669280" cy="16916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274320" y="2971800"/>
            <a:ext cx="5669280" cy="50292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84048" y="3044952"/>
            <a:ext cx="54498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📊  Power BI Desktop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84048" y="3538728"/>
            <a:ext cx="54498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</a:rPr>
              <a:t>📌 Business intelligence and visualization tool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384048" y="3886200"/>
            <a:ext cx="54498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✅ Used for: 4-page interactive dashboard with navigation and slicers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0" y="2971800"/>
            <a:ext cx="5669280" cy="16916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217920" y="2971800"/>
            <a:ext cx="5669280" cy="5029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27648" y="3044952"/>
            <a:ext cx="54498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⭐  Star Schema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327648" y="3538728"/>
            <a:ext cx="54498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</a:rPr>
              <a:t>📌 Data warehouse modeling technique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327648" y="3886200"/>
            <a:ext cx="54498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✅ Used for: 1 fact table + 5 dimension tables for fast analytics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4800600"/>
            <a:ext cx="5669280" cy="16916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5" name="Shape 23"/>
          <p:cNvSpPr/>
          <p:nvPr/>
        </p:nvSpPr>
        <p:spPr>
          <a:xfrm>
            <a:off x="274320" y="4800600"/>
            <a:ext cx="5669280" cy="502920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84048" y="4873752"/>
            <a:ext cx="54498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📓  Jupyter Notebook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384048" y="5367528"/>
            <a:ext cx="54498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</a:rPr>
              <a:t>📌 Python development environment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384048" y="5715000"/>
            <a:ext cx="54498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✅ Used for: ETL pipeline development and data exploration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17920" y="4800600"/>
            <a:ext cx="5669280" cy="16916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0" name="Shape 28"/>
          <p:cNvSpPr/>
          <p:nvPr/>
        </p:nvSpPr>
        <p:spPr>
          <a:xfrm>
            <a:off x="6217920" y="4800600"/>
            <a:ext cx="566928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327648" y="4873752"/>
            <a:ext cx="54498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🐙  GitHub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327648" y="5367528"/>
            <a:ext cx="54498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</a:rPr>
              <a:t>📌 Version control and project hosting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6327648" y="5715000"/>
            <a:ext cx="54498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✅ Used for: Repository, README, project documentation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164592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✅  Evaluation Criteria — All Milestones Met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5669280" cy="25146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143000"/>
            <a:ext cx="5669280" cy="43891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65760" y="1197864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Milestone 1 — Week 2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1645920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All datasets integrated successfully ✅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11480" y="2029968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Incident classifications standardized across sources ✅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11480" y="2414016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Star schema relationships validated ✅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3200400"/>
            <a:ext cx="5394960" cy="34747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11480" y="3200400"/>
            <a:ext cx="539496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🏆 1,00,000 records loaded | 6 tables created | TSI calculated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1143000"/>
            <a:ext cx="5669280" cy="25146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3" name="Shape 11"/>
          <p:cNvSpPr/>
          <p:nvPr/>
        </p:nvSpPr>
        <p:spPr>
          <a:xfrm>
            <a:off x="6217920" y="1143000"/>
            <a:ext cx="5669280" cy="43891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09360" y="1197864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Milestone 2 — Week 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1645920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Threat Severity Index accurately calculated ✅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2029968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Temporal analytics dashboards operational ✅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2414016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Anomaly detection functioning correctly ✅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355080" y="3200400"/>
            <a:ext cx="5394960" cy="34747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55080" y="3200400"/>
            <a:ext cx="539496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🏆 TSI = 5.21 | Monthly trend built | Anomaly alerts added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3886200"/>
            <a:ext cx="5669280" cy="25146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1" name="Shape 19"/>
          <p:cNvSpPr/>
          <p:nvPr/>
        </p:nvSpPr>
        <p:spPr>
          <a:xfrm>
            <a:off x="274320" y="3886200"/>
            <a:ext cx="5669280" cy="43891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65760" y="3941064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Milestone 3 — Week 6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11480" y="4389120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Threat hotspot maps validated ✅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11480" y="4773168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Response performance metrics verified ✅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411480" y="5157216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Geospatial intelligence dashboards fully functional ✅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1480" y="5943600"/>
            <a:ext cx="5394960" cy="34747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11480" y="5943600"/>
            <a:ext cx="539496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🏆 World map built | 10-country response bar | Heatmap created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217920" y="3886200"/>
            <a:ext cx="5669280" cy="25146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9" name="Shape 27"/>
          <p:cNvSpPr/>
          <p:nvPr/>
        </p:nvSpPr>
        <p:spPr>
          <a:xfrm>
            <a:off x="6217920" y="3886200"/>
            <a:ext cx="5669280" cy="438912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309360" y="3941064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Milestone 4 — Week 8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355080" y="4389120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Risk metrics identify meaningful threat patterns ✅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6355080" y="4773168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Predictive models generate actionable forecasts ✅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6355080" y="5157216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Executive dashboards support end-to-end decisions ✅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6355080" y="5541264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Platform performance meets deployment requirements ✅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355080" y="5943600"/>
            <a:ext cx="5394960" cy="347472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355080" y="5943600"/>
            <a:ext cx="539496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🏆 Risk scorecard | Forecast line | Platform gauge | Executive dashboard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937760" y="73152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🛡️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21031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Thank You!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310896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C4FF"/>
                </a:solidFill>
              </a:rPr>
              <a:t>Advanced Threat Incident Analytics &amp; Security Visualization Framework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3931920"/>
            <a:ext cx="2331720" cy="822960"/>
          </a:xfrm>
          <a:prstGeom prst="rect">
            <a:avLst/>
          </a:prstGeom>
          <a:solidFill>
            <a:srgbClr val="24355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3959352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3946"/>
                </a:solidFill>
              </a:rPr>
              <a:t>1,00,000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325112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C4FF"/>
                </a:solidFill>
              </a:rPr>
              <a:t>Records Analyzed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520440" y="3931920"/>
            <a:ext cx="2331720" cy="822960"/>
          </a:xfrm>
          <a:prstGeom prst="rect">
            <a:avLst/>
          </a:prstGeom>
          <a:solidFill>
            <a:srgbClr val="24355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20440" y="3959352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96F3"/>
                </a:solidFill>
              </a:rPr>
              <a:t>6 Tables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4325112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C4FF"/>
                </a:solidFill>
              </a:rPr>
              <a:t>Star Schema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3931920"/>
            <a:ext cx="2331720" cy="822960"/>
          </a:xfrm>
          <a:prstGeom prst="rect">
            <a:avLst/>
          </a:prstGeom>
          <a:solidFill>
            <a:srgbClr val="24355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126480" y="3959352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8A745"/>
                </a:solidFill>
              </a:rPr>
              <a:t>4 Pages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4325112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C4FF"/>
                </a:solidFill>
              </a:rPr>
              <a:t>Power BI Dashboard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732520" y="3931920"/>
            <a:ext cx="2331720" cy="822960"/>
          </a:xfrm>
          <a:prstGeom prst="rect">
            <a:avLst/>
          </a:prstGeom>
          <a:solidFill>
            <a:srgbClr val="24355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732520" y="3959352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A261"/>
                </a:solidFill>
              </a:rPr>
              <a:t>5.21 TSI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732520" y="4325112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C4FF"/>
                </a:solidFill>
              </a:rPr>
              <a:t>Threat Score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50292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3C0"/>
                </a:solidFill>
              </a:rPr>
              <a:t>Infosys Springboard Virtual Internship 7.0  |  Batch 2  |  Data Visualization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55778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FA3C0"/>
                </a:solidFill>
              </a:rPr>
              <a:t>"Intelligent Security. Actionable Insights. Safer Tomorrow."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61264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C0"/>
                </a:solidFill>
              </a:rPr>
              <a:t>GitHub: github.com/mr-deepak-kp/ThreatAnalytics-Dashboard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2026-09-23T19:07:42Z</dcterms:created>
  <dcterms:modified xsi:type="dcterms:W3CDTF">2026-09-23T19:07:42Z</dcterms:modified>
</cp:coreProperties>
</file>